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Plus Jakarta Sans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E0271C-FED0-43BA-A56D-67A6A46E7828}">
  <a:tblStyle styleId="{8BE0271C-FED0-43BA-A56D-67A6A46E78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526614"/>
            <a:ext cx="10668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3939176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93825" y="4302839"/>
            <a:ext cx="10668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096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437" y="70485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9277350" y="719137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AI | GENERATIVE AI | EDTECH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2366962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INTELLIGENT LEARNING PLATFORM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2719387"/>
            <a:ext cx="1143000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EDUGENIE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62000" y="3580358"/>
            <a:ext cx="90487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AI-Powered Educational Assistant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257300" y="704850"/>
            <a:ext cx="235743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ACADEMIC PROJECT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62000" y="4059214"/>
            <a:ext cx="13908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62000" y="4394375"/>
            <a:ext cx="2040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Lohith NR</a:t>
            </a:r>
            <a:endParaRPr sz="1500" b="1" i="0" u="none" strike="noStrike" cap="none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 Murasolimaran</a:t>
            </a:r>
            <a:endParaRPr sz="1500" b="1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 Harish</a:t>
            </a:r>
            <a:endParaRPr sz="1500" b="1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 Ragul</a:t>
            </a:r>
            <a:endParaRPr sz="1500" b="1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 Sanjay</a:t>
            </a:r>
            <a:endParaRPr sz="1500" b="1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846093" y="5848201"/>
            <a:ext cx="458390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DEPARTMENT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846093" y="6048226"/>
            <a:ext cx="458390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B.Sc. Computer Science – AI &amp; Data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85800" y="3808809"/>
            <a:ext cx="523875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267450" y="2053530"/>
            <a:ext cx="52387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267450" y="2691705"/>
            <a:ext cx="52387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267450" y="3329880"/>
            <a:ext cx="52387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267450" y="3968055"/>
            <a:ext cx="52387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267450" y="4606230"/>
            <a:ext cx="52387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4094559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7475" y="222021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7475" y="285839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7475" y="349656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7475" y="413474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67475" y="477291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EXECUTIVE SUMMARY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Overview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85800" y="6162675"/>
            <a:ext cx="220265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0991850" y="6162675"/>
            <a:ext cx="8001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02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85800" y="2574726"/>
            <a:ext cx="5334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EduGenie combines Generative AI with a student-friendly web interface to deliver on-demand educational support.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238250" y="4008834"/>
            <a:ext cx="45434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Unified cognitive study assistant powered by Google Gemini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810375" y="2215455"/>
            <a:ext cx="227409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AI Question &amp; Answer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762750" y="2853630"/>
            <a:ext cx="213121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Concept Explanation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810375" y="3491805"/>
            <a:ext cx="284559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Interactive Quiz Generation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762750" y="4129980"/>
            <a:ext cx="3119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Study Material Summarization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6810375" y="4768155"/>
            <a:ext cx="43100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Personalized Learning Recommendations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685800" y="5829300"/>
            <a:ext cx="10820400" cy="49530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85800" y="2634555"/>
            <a:ext cx="2562225" cy="1743075"/>
          </a:xfrm>
          <a:prstGeom prst="roundRect">
            <a:avLst>
              <a:gd name="adj" fmla="val 6557"/>
            </a:avLst>
          </a:prstGeom>
          <a:solidFill>
            <a:srgbClr val="FEF2F2"/>
          </a:solidFill>
          <a:ln w="9525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3438525" y="2634555"/>
            <a:ext cx="2562225" cy="1743075"/>
          </a:xfrm>
          <a:prstGeom prst="roundRect">
            <a:avLst>
              <a:gd name="adj" fmla="val 6557"/>
            </a:avLst>
          </a:prstGeom>
          <a:solidFill>
            <a:srgbClr val="FFF7ED"/>
          </a:solidFill>
          <a:ln w="9525" cap="flat" cmpd="sng">
            <a:solidFill>
              <a:srgbClr val="FFED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191250" y="2634555"/>
            <a:ext cx="2562225" cy="1743075"/>
          </a:xfrm>
          <a:prstGeom prst="roundRect">
            <a:avLst>
              <a:gd name="adj" fmla="val 6557"/>
            </a:avLst>
          </a:prstGeom>
          <a:solidFill>
            <a:srgbClr val="FEFCE8"/>
          </a:solidFill>
          <a:ln w="9525" cap="flat" cmpd="sng">
            <a:solidFill>
              <a:srgbClr val="FEF9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8943975" y="2634555"/>
            <a:ext cx="2562225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59817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3925" y="291078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76650" y="2910780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29375" y="2910780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2100" y="291078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CHALLENGES IN SELF-STUDY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Statement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257300" y="598170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Traditional learning resources provide information but lack personalization and interactivity.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923925" y="3329880"/>
            <a:ext cx="273784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Complex Concepts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923925" y="3644205"/>
            <a:ext cx="21812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Understanding difficult academic ideas.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3676650" y="3329880"/>
            <a:ext cx="273784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A34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Slow Explanations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3676650" y="3644205"/>
            <a:ext cx="21812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C2D12"/>
                </a:solidFill>
                <a:latin typeface="Inter"/>
                <a:ea typeface="Inter"/>
                <a:cs typeface="Inter"/>
                <a:sym typeface="Inter"/>
              </a:rPr>
              <a:t>Finding quick and clear explanations.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429375" y="3329880"/>
            <a:ext cx="273784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54D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Quizzing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429375" y="3644205"/>
            <a:ext cx="21812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13F12"/>
                </a:solidFill>
                <a:latin typeface="Inter"/>
                <a:ea typeface="Inter"/>
                <a:cs typeface="Inter"/>
                <a:sym typeface="Inter"/>
              </a:rPr>
              <a:t>Preparing reliable practice questions.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9182100" y="3329880"/>
            <a:ext cx="273784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Guidance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9182100" y="3644205"/>
            <a:ext cx="21812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Identifying what to study next.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85800" y="2210692"/>
            <a:ext cx="5257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85800" y="3182242"/>
            <a:ext cx="5257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685800" y="4153792"/>
            <a:ext cx="5257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6248400" y="2210692"/>
            <a:ext cx="5257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248400" y="3182242"/>
            <a:ext cx="5257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248400" y="4153792"/>
            <a:ext cx="5257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GOALS &amp; VISION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Objectives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85800" y="6162675"/>
            <a:ext cx="220265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10991850" y="6162675"/>
            <a:ext cx="8001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04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923925" y="2410717"/>
            <a:ext cx="59769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Provide AI-Powered Assistance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923925" y="2648842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Accessible guidance through modern web technology.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923925" y="3382267"/>
            <a:ext cx="59769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Simplify Difficult Concepts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923925" y="3620392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Transform dense theory into clear explanations.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923925" y="4353817"/>
            <a:ext cx="59769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Generate Practice Quizzes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923925" y="4591942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Automate self-assessment with instant scoring.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6486525" y="2410717"/>
            <a:ext cx="57054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Summarize Study Materials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486525" y="2648842"/>
            <a:ext cx="5705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Synthesize lengthy readings into concise revision points.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6486525" y="3382267"/>
            <a:ext cx="57054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Personalized Learning Paths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6486525" y="3620392"/>
            <a:ext cx="5705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Deliver structured topic roadmaps and prerequisites.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486525" y="4353817"/>
            <a:ext cx="57054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Support Self-Paced Learning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486525" y="4591942"/>
            <a:ext cx="5705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Reduce manual note-making and study preparation time.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685800" y="2496442"/>
            <a:ext cx="52387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6267450" y="2496442"/>
            <a:ext cx="5238750" cy="2190750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 w="9525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" y="328701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125" y="359181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0125" y="389661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420141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28701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59181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89661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420141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STATE OF CURRENT METHODS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Existing System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685800" y="6162675"/>
            <a:ext cx="220265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11001375" y="6162675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05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1000125" y="2810767"/>
            <a:ext cx="605075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Conventional Resources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6581775" y="2810767"/>
            <a:ext cx="56102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Limitations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1247775" y="3267967"/>
            <a:ext cx="297656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Static textbooks and paper notes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1266825" y="3572767"/>
            <a:ext cx="264318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Dispersed web search results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1266825" y="3877567"/>
            <a:ext cx="321468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Manually prepared practice quizzes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1266825" y="4182367"/>
            <a:ext cx="301228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Generic, unpersonalized curricula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6848475" y="3267967"/>
            <a:ext cx="420290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Minimal personalization for struggling students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6848475" y="3572767"/>
            <a:ext cx="386953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Time-consuming preparation and synthesis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6848475" y="3877567"/>
            <a:ext cx="382190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Fragmented across multiple separate tools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6848475" y="4182367"/>
            <a:ext cx="316706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Lack of active interactive feedback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85800" y="2396430"/>
            <a:ext cx="108204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685800" y="4110930"/>
            <a:ext cx="10820400" cy="676275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9475" y="30441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10275" y="30441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01075" y="30441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62150" y="2634555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52950" y="2634555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0" y="2634555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34550" y="2634555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19312" y="277743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95825" y="277743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72337" y="2777430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891712" y="2777430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8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THE EDUGENIE APPROACH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System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685800" y="6162675"/>
            <a:ext cx="220265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10991850" y="6162675"/>
            <a:ext cx="8001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06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-136921" y="4349055"/>
            <a:ext cx="1246584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Combines multiple AI-powered learning functions into a single centralized web application.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697706" y="3244155"/>
            <a:ext cx="30241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Student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697706" y="3482280"/>
            <a:ext cx="302418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Inputs query or text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3288506" y="3244155"/>
            <a:ext cx="30241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EduGenie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3288506" y="3482280"/>
            <a:ext cx="302418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Unified React portal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5879306" y="3244155"/>
            <a:ext cx="30241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Processing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5879306" y="3482280"/>
            <a:ext cx="302418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Google Gemini LLM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8470106" y="3244155"/>
            <a:ext cx="30241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Educational Output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8470106" y="3482280"/>
            <a:ext cx="302418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Structured result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685800" y="2948880"/>
            <a:ext cx="2042219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880419" y="2948880"/>
            <a:ext cx="2042219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5075039" y="2948880"/>
            <a:ext cx="2042219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7269658" y="2948880"/>
            <a:ext cx="2042219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9464278" y="2948880"/>
            <a:ext cx="2042219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3559" y="318700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1516" y="3187005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62798" y="318700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0755" y="3187005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52037" y="318700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PLATFORM CAPABILITIES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Features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685800" y="6162675"/>
            <a:ext cx="220265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11001375" y="6162675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07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604232" y="3568005"/>
            <a:ext cx="220535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Q&amp;A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656741" y="3834705"/>
            <a:ext cx="210033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Clear academic answers.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2798852" y="3568005"/>
            <a:ext cx="220535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Explain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2851360" y="3834705"/>
            <a:ext cx="210033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Simplifies complex topics.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4993471" y="3568005"/>
            <a:ext cx="220535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Quiz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5045980" y="3834705"/>
            <a:ext cx="210033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Evaluates understanding.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7188091" y="3568005"/>
            <a:ext cx="220535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Summarizer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7240599" y="3834705"/>
            <a:ext cx="210033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Condenses study notes.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9382711" y="3568005"/>
            <a:ext cx="220535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Learning Path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9435219" y="3834705"/>
            <a:ext cx="210033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Structured topic guide.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685800" y="2220217"/>
            <a:ext cx="1714500" cy="457200"/>
          </a:xfrm>
          <a:prstGeom prst="roundRect">
            <a:avLst>
              <a:gd name="adj" fmla="val 1666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685800" y="2791717"/>
            <a:ext cx="1714500" cy="4572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685800" y="3363217"/>
            <a:ext cx="1714500" cy="4572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685800" y="3934717"/>
            <a:ext cx="1714500" cy="457200"/>
          </a:xfrm>
          <a:prstGeom prst="roundRect">
            <a:avLst>
              <a:gd name="adj" fmla="val 16666"/>
            </a:avLst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685800" y="4506217"/>
            <a:ext cx="1714500" cy="4572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Architecture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685800" y="6162675"/>
            <a:ext cx="220265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10991850" y="6162675"/>
            <a:ext cx="8001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08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2552700" y="2353567"/>
            <a:ext cx="4619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React-based user interface and state rendering.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2552700" y="2925067"/>
            <a:ext cx="417909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 handling and client input validation.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2552700" y="3496567"/>
            <a:ext cx="544115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 prompt creation and Gemini API communication.</a:t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2552700" y="4068067"/>
            <a:ext cx="59531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Generative AI engine performing natural language processing.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2552700" y="4639567"/>
            <a:ext cx="4191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Response validation and final UI formatting.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709612" y="2353567"/>
            <a:ext cx="1666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 Layer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709612" y="2925067"/>
            <a:ext cx="1666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 Logic Layer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709612" y="3496567"/>
            <a:ext cx="1666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Service Layer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709612" y="4068067"/>
            <a:ext cx="1666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Google Gemini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709612" y="4639567"/>
            <a:ext cx="1666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Processing Layer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685800" y="2487959"/>
            <a:ext cx="3454449" cy="2207716"/>
          </a:xfrm>
          <a:prstGeom prst="roundRect">
            <a:avLst>
              <a:gd name="adj" fmla="val 51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4368849" y="2487959"/>
            <a:ext cx="3454449" cy="2207716"/>
          </a:xfrm>
          <a:prstGeom prst="roundRect">
            <a:avLst>
              <a:gd name="adj" fmla="val 51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8051899" y="2487959"/>
            <a:ext cx="3454449" cy="2207716"/>
          </a:xfrm>
          <a:prstGeom prst="roundRect">
            <a:avLst>
              <a:gd name="adj" fmla="val 51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2802284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6974" y="2802284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90024" y="280228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1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TOOLING &amp; INFRASTRUCTURE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Stack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685800" y="6162675"/>
            <a:ext cx="220265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10991850" y="6162675"/>
            <a:ext cx="8001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09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923925" y="3297584"/>
            <a:ext cx="390888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923925" y="3650009"/>
            <a:ext cx="30734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React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JavaScript (ES6+)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HTML5 &amp; CSS3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4606974" y="3297584"/>
            <a:ext cx="390888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Artificial Intelligence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4606974" y="3650009"/>
            <a:ext cx="30734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Google Gemini API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Generative AI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Prompt Engineering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8290024" y="3297584"/>
            <a:ext cx="39019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Development Platform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8290024" y="3650009"/>
            <a:ext cx="30734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Google AI Studio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Node.js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npm package manager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685800" y="2297459"/>
            <a:ext cx="5238750" cy="258871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6267450" y="2571750"/>
            <a:ext cx="5238750" cy="2040135"/>
          </a:xfrm>
          <a:prstGeom prst="roundRect">
            <a:avLst>
              <a:gd name="adj" fmla="val 5602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DOUBT CLARIFICATION</a:t>
            </a:r>
            <a:endParaRPr/>
          </a:p>
        </p:txBody>
      </p:sp>
      <p:sp>
        <p:nvSpPr>
          <p:cNvPr id="328" name="Google Shape;328;p22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Question &amp; Answer</a:t>
            </a:r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685800" y="6162675"/>
            <a:ext cx="220265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11020425" y="6162675"/>
            <a:ext cx="771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10</a:t>
            </a:r>
            <a:endParaRPr/>
          </a:p>
        </p:txBody>
      </p:sp>
      <p:sp>
        <p:nvSpPr>
          <p:cNvPr id="331" name="Google Shape;331;p22"/>
          <p:cNvSpPr txBox="1"/>
          <p:nvPr/>
        </p:nvSpPr>
        <p:spPr>
          <a:xfrm>
            <a:off x="962025" y="2573684"/>
            <a:ext cx="615076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 Workflow</a:t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962025" y="2964209"/>
            <a:ext cx="4781550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Student enters academic question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Input validation check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Feature-specific prompt generation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Google Gemini processing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Structured response formatting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Result displayed to student</a:t>
            </a:r>
            <a:endParaRPr/>
          </a:p>
        </p:txBody>
      </p:sp>
      <p:sp>
        <p:nvSpPr>
          <p:cNvPr id="333" name="Google Shape;333;p22"/>
          <p:cNvSpPr txBox="1"/>
          <p:nvPr/>
        </p:nvSpPr>
        <p:spPr>
          <a:xfrm>
            <a:off x="6543675" y="2847975"/>
            <a:ext cx="56483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 Benefits</a:t>
            </a:r>
            <a:endParaRPr/>
          </a:p>
        </p:txBody>
      </p:sp>
      <p:sp>
        <p:nvSpPr>
          <p:cNvPr id="334" name="Google Shape;334;p22"/>
          <p:cNvSpPr txBox="1"/>
          <p:nvPr/>
        </p:nvSpPr>
        <p:spPr>
          <a:xfrm>
            <a:off x="6543675" y="3238500"/>
            <a:ext cx="47815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• Quick academic doubt clarification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Direct and clear explanations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Contextual examples for retention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Friendly, accessible presentation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/>
          <p:nvPr/>
        </p:nvSpPr>
        <p:spPr>
          <a:xfrm>
            <a:off x="685800" y="5829300"/>
            <a:ext cx="10820400" cy="49530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685800" y="2796480"/>
            <a:ext cx="2533650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3448050" y="2705992"/>
            <a:ext cx="253365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6210300" y="2796480"/>
            <a:ext cx="2533650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8972550" y="2796480"/>
            <a:ext cx="2533650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825" y="307270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48075" y="298221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0325" y="307270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72575" y="307270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3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CONCEPT SIMPLIFICATION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Explain</a:t>
            </a:r>
            <a:endParaRPr/>
          </a:p>
        </p:txBody>
      </p:sp>
      <p:sp>
        <p:nvSpPr>
          <p:cNvPr id="350" name="Google Shape;350;p23"/>
          <p:cNvSpPr txBox="1"/>
          <p:nvPr/>
        </p:nvSpPr>
        <p:spPr>
          <a:xfrm>
            <a:off x="-190500" y="5981700"/>
            <a:ext cx="12573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Core Purpose: To convert difficult academic concepts into easier-to-understand explanations.</a:t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885825" y="3453705"/>
            <a:ext cx="2800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Simple View</a:t>
            </a:r>
            <a:endParaRPr/>
          </a:p>
        </p:txBody>
      </p:sp>
      <p:sp>
        <p:nvSpPr>
          <p:cNvPr id="352" name="Google Shape;352;p23"/>
          <p:cNvSpPr txBox="1"/>
          <p:nvPr/>
        </p:nvSpPr>
        <p:spPr>
          <a:xfrm>
            <a:off x="885825" y="3758505"/>
            <a:ext cx="2667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Intuitive, jargon-free overview.</a:t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3648075" y="3363217"/>
            <a:ext cx="2800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Detailed View</a:t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3648075" y="3668017"/>
            <a:ext cx="22288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Comprehensive technical depth.</a:t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6410325" y="3453705"/>
            <a:ext cx="2800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Examples</a:t>
            </a:r>
            <a:endParaRPr/>
          </a:p>
        </p:txBody>
      </p:sp>
      <p:sp>
        <p:nvSpPr>
          <p:cNvPr id="356" name="Google Shape;356;p23"/>
          <p:cNvSpPr txBox="1"/>
          <p:nvPr/>
        </p:nvSpPr>
        <p:spPr>
          <a:xfrm>
            <a:off x="6410325" y="3758505"/>
            <a:ext cx="2667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Practical analogies and cases.</a:t>
            </a:r>
            <a:endParaRPr/>
          </a:p>
        </p:txBody>
      </p:sp>
      <p:sp>
        <p:nvSpPr>
          <p:cNvPr id="357" name="Google Shape;357;p23"/>
          <p:cNvSpPr txBox="1"/>
          <p:nvPr/>
        </p:nvSpPr>
        <p:spPr>
          <a:xfrm>
            <a:off x="9172575" y="3453705"/>
            <a:ext cx="2800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Data</a:t>
            </a:r>
            <a:endParaRPr/>
          </a:p>
        </p:txBody>
      </p:sp>
      <p:sp>
        <p:nvSpPr>
          <p:cNvPr id="358" name="Google Shape;358;p23"/>
          <p:cNvSpPr txBox="1"/>
          <p:nvPr/>
        </p:nvSpPr>
        <p:spPr>
          <a:xfrm>
            <a:off x="9172575" y="3758505"/>
            <a:ext cx="2667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Organized bullet summaries.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685800" y="2297459"/>
            <a:ext cx="5276850" cy="258871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6229350" y="2571750"/>
            <a:ext cx="5276850" cy="2040135"/>
          </a:xfrm>
          <a:prstGeom prst="roundRect">
            <a:avLst>
              <a:gd name="adj" fmla="val 560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SELF-ASSESSMENT</a:t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Quiz System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685800" y="6162675"/>
            <a:ext cx="220265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  <a:endParaRPr/>
          </a:p>
        </p:txBody>
      </p:sp>
      <p:sp>
        <p:nvSpPr>
          <p:cNvPr id="370" name="Google Shape;370;p24"/>
          <p:cNvSpPr txBox="1"/>
          <p:nvPr/>
        </p:nvSpPr>
        <p:spPr>
          <a:xfrm>
            <a:off x="11020425" y="6162675"/>
            <a:ext cx="771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12</a:t>
            </a:r>
            <a:endParaRPr/>
          </a:p>
        </p:txBody>
      </p:sp>
      <p:sp>
        <p:nvSpPr>
          <p:cNvPr id="371" name="Google Shape;371;p24"/>
          <p:cNvSpPr txBox="1"/>
          <p:nvPr/>
        </p:nvSpPr>
        <p:spPr>
          <a:xfrm>
            <a:off x="962025" y="2573684"/>
            <a:ext cx="62007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Quiz Workflow</a:t>
            </a:r>
            <a:endParaRPr/>
          </a:p>
        </p:txBody>
      </p:sp>
      <p:sp>
        <p:nvSpPr>
          <p:cNvPr id="372" name="Google Shape;372;p24"/>
          <p:cNvSpPr txBox="1"/>
          <p:nvPr/>
        </p:nvSpPr>
        <p:spPr>
          <a:xfrm>
            <a:off x="962025" y="2964209"/>
            <a:ext cx="4819650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Student enters topic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AI generates 3 questions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4 options per question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Student selects answers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Submit and automatic score calculation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Correct answers and explanations displayed</a:t>
            </a: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6505575" y="2847975"/>
            <a:ext cx="56864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Scoring &amp; Feedback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6505575" y="3238500"/>
            <a:ext cx="48196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Perfect Score: 3/3 (100%)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Moderate: 2/3 or 1/3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Immediate answer key reveal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Detailed rationales for every option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5"/>
          <p:cNvSpPr/>
          <p:nvPr/>
        </p:nvSpPr>
        <p:spPr>
          <a:xfrm>
            <a:off x="685800" y="6000601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685800" y="2701081"/>
            <a:ext cx="3690937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5"/>
          <p:cNvSpPr/>
          <p:nvPr/>
        </p:nvSpPr>
        <p:spPr>
          <a:xfrm>
            <a:off x="5186362" y="2670720"/>
            <a:ext cx="6319837" cy="1842045"/>
          </a:xfrm>
          <a:prstGeom prst="roundRect">
            <a:avLst>
              <a:gd name="adj" fmla="val 6205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5"/>
          <p:cNvSpPr/>
          <p:nvPr/>
        </p:nvSpPr>
        <p:spPr>
          <a:xfrm>
            <a:off x="685800" y="6000601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301540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1537" y="347736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5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CONTENT REVISION</a:t>
            </a:r>
            <a:endParaRPr/>
          </a:p>
        </p:txBody>
      </p:sp>
      <p:sp>
        <p:nvSpPr>
          <p:cNvPr id="386" name="Google Shape;386;p25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Summarizer</a:t>
            </a:r>
            <a:endParaRPr/>
          </a:p>
        </p:txBody>
      </p:sp>
      <p:sp>
        <p:nvSpPr>
          <p:cNvPr id="387" name="Google Shape;387;p25"/>
          <p:cNvSpPr txBox="1"/>
          <p:nvPr/>
        </p:nvSpPr>
        <p:spPr>
          <a:xfrm>
            <a:off x="685800" y="6162526"/>
            <a:ext cx="220265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11020425" y="6162526"/>
            <a:ext cx="771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13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923925" y="3472606"/>
            <a:ext cx="421927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Input Text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923925" y="3786931"/>
            <a:ext cx="330993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Paste study material, notes, or textbook excerpts.</a:t>
            </a:r>
            <a:endParaRPr/>
          </a:p>
        </p:txBody>
      </p:sp>
      <p:sp>
        <p:nvSpPr>
          <p:cNvPr id="391" name="Google Shape;391;p25"/>
          <p:cNvSpPr txBox="1"/>
          <p:nvPr/>
        </p:nvSpPr>
        <p:spPr>
          <a:xfrm>
            <a:off x="5462587" y="2985045"/>
            <a:ext cx="672941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Generated Revision Output</a:t>
            </a:r>
            <a:endParaRPr/>
          </a:p>
        </p:txBody>
      </p:sp>
      <p:sp>
        <p:nvSpPr>
          <p:cNvPr id="392" name="Google Shape;392;p25"/>
          <p:cNvSpPr txBox="1"/>
          <p:nvPr/>
        </p:nvSpPr>
        <p:spPr>
          <a:xfrm>
            <a:off x="5462587" y="3375570"/>
            <a:ext cx="586263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• Concise summary capturing core thesis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Key points for rapid exam recall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Important definitions and concepts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"/>
          <p:cNvSpPr/>
          <p:nvPr/>
        </p:nvSpPr>
        <p:spPr>
          <a:xfrm>
            <a:off x="685800" y="5810250"/>
            <a:ext cx="108204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685800" y="2848867"/>
            <a:ext cx="2562225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3438525" y="2848867"/>
            <a:ext cx="2562225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6191250" y="2848867"/>
            <a:ext cx="2562225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8943975" y="2848867"/>
            <a:ext cx="2562225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825" y="308699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550" y="308699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308699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0" y="30869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6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CURRICULUM GUIDANCE</a:t>
            </a:r>
            <a:endParaRPr/>
          </a:p>
        </p:txBody>
      </p:sp>
      <p:sp>
        <p:nvSpPr>
          <p:cNvPr id="407" name="Google Shape;407;p26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Learning Recommendations</a:t>
            </a:r>
            <a:endParaRPr/>
          </a:p>
        </p:txBody>
      </p:sp>
      <p:sp>
        <p:nvSpPr>
          <p:cNvPr id="408" name="Google Shape;408;p26"/>
          <p:cNvSpPr txBox="1"/>
          <p:nvPr/>
        </p:nvSpPr>
        <p:spPr>
          <a:xfrm>
            <a:off x="-184546" y="5972175"/>
            <a:ext cx="1256109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Purpose: Provides a structured approach for students embarking on new subjects.</a:t>
            </a:r>
            <a:endParaRPr/>
          </a:p>
        </p:txBody>
      </p:sp>
      <p:sp>
        <p:nvSpPr>
          <p:cNvPr id="409" name="Google Shape;409;p26"/>
          <p:cNvSpPr txBox="1"/>
          <p:nvPr/>
        </p:nvSpPr>
        <p:spPr>
          <a:xfrm>
            <a:off x="885825" y="3429892"/>
            <a:ext cx="283785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Prerequisites</a:t>
            </a:r>
            <a:endParaRPr/>
          </a:p>
        </p:txBody>
      </p:sp>
      <p:sp>
        <p:nvSpPr>
          <p:cNvPr id="410" name="Google Shape;410;p26"/>
          <p:cNvSpPr txBox="1"/>
          <p:nvPr/>
        </p:nvSpPr>
        <p:spPr>
          <a:xfrm>
            <a:off x="885825" y="3725167"/>
            <a:ext cx="270271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Foundational concepts first.</a:t>
            </a:r>
            <a:endParaRPr/>
          </a:p>
        </p:txBody>
      </p:sp>
      <p:sp>
        <p:nvSpPr>
          <p:cNvPr id="411" name="Google Shape;411;p26"/>
          <p:cNvSpPr txBox="1"/>
          <p:nvPr/>
        </p:nvSpPr>
        <p:spPr>
          <a:xfrm>
            <a:off x="3638550" y="3429892"/>
            <a:ext cx="283785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Next Topics</a:t>
            </a:r>
            <a:endParaRPr/>
          </a:p>
        </p:txBody>
      </p:sp>
      <p:sp>
        <p:nvSpPr>
          <p:cNvPr id="412" name="Google Shape;412;p26"/>
          <p:cNvSpPr txBox="1"/>
          <p:nvPr/>
        </p:nvSpPr>
        <p:spPr>
          <a:xfrm>
            <a:off x="3638550" y="3725167"/>
            <a:ext cx="270271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Logical progression steps.</a:t>
            </a:r>
            <a:endParaRPr/>
          </a:p>
        </p:txBody>
      </p:sp>
      <p:sp>
        <p:nvSpPr>
          <p:cNvPr id="413" name="Google Shape;413;p26"/>
          <p:cNvSpPr txBox="1"/>
          <p:nvPr/>
        </p:nvSpPr>
        <p:spPr>
          <a:xfrm>
            <a:off x="6391275" y="3429892"/>
            <a:ext cx="283785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Practice</a:t>
            </a:r>
            <a:endParaRPr/>
          </a:p>
        </p:txBody>
      </p:sp>
      <p:sp>
        <p:nvSpPr>
          <p:cNvPr id="414" name="Google Shape;414;p26"/>
          <p:cNvSpPr txBox="1"/>
          <p:nvPr/>
        </p:nvSpPr>
        <p:spPr>
          <a:xfrm>
            <a:off x="6391275" y="3725167"/>
            <a:ext cx="270271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Hands-on problem sets.</a:t>
            </a:r>
            <a:endParaRPr/>
          </a:p>
        </p:txBody>
      </p:sp>
      <p:sp>
        <p:nvSpPr>
          <p:cNvPr id="415" name="Google Shape;415;p26"/>
          <p:cNvSpPr txBox="1"/>
          <p:nvPr/>
        </p:nvSpPr>
        <p:spPr>
          <a:xfrm>
            <a:off x="9144000" y="3429892"/>
            <a:ext cx="283785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Revision</a:t>
            </a:r>
            <a:endParaRPr/>
          </a:p>
        </p:txBody>
      </p:sp>
      <p:sp>
        <p:nvSpPr>
          <p:cNvPr id="416" name="Google Shape;416;p26"/>
          <p:cNvSpPr txBox="1"/>
          <p:nvPr/>
        </p:nvSpPr>
        <p:spPr>
          <a:xfrm>
            <a:off x="9144000" y="3725167"/>
            <a:ext cx="270271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Retention suggestions.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7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685800" y="2544067"/>
            <a:ext cx="5295900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7"/>
          <p:cNvSpPr/>
          <p:nvPr/>
        </p:nvSpPr>
        <p:spPr>
          <a:xfrm>
            <a:off x="6210300" y="2672655"/>
            <a:ext cx="5295900" cy="1838325"/>
          </a:xfrm>
          <a:prstGeom prst="roundRect">
            <a:avLst>
              <a:gd name="adj" fmla="val 621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7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SYSTEM TUNING</a:t>
            </a:r>
            <a:endParaRPr/>
          </a:p>
        </p:txBody>
      </p:sp>
      <p:sp>
        <p:nvSpPr>
          <p:cNvPr id="426" name="Google Shape;426;p27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&amp; Prompt Engineering</a:t>
            </a:r>
            <a:endParaRPr/>
          </a:p>
        </p:txBody>
      </p:sp>
      <p:sp>
        <p:nvSpPr>
          <p:cNvPr id="427" name="Google Shape;427;p27"/>
          <p:cNvSpPr txBox="1"/>
          <p:nvPr/>
        </p:nvSpPr>
        <p:spPr>
          <a:xfrm>
            <a:off x="685800" y="6162675"/>
            <a:ext cx="220265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  <a:endParaRPr/>
          </a:p>
        </p:txBody>
      </p:sp>
      <p:sp>
        <p:nvSpPr>
          <p:cNvPr id="428" name="Google Shape;428;p27"/>
          <p:cNvSpPr txBox="1"/>
          <p:nvPr/>
        </p:nvSpPr>
        <p:spPr>
          <a:xfrm>
            <a:off x="11029950" y="61626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15</a:t>
            </a:r>
            <a:endParaRPr/>
          </a:p>
        </p:txBody>
      </p:sp>
      <p:sp>
        <p:nvSpPr>
          <p:cNvPr id="429" name="Google Shape;429;p27"/>
          <p:cNvSpPr txBox="1"/>
          <p:nvPr/>
        </p:nvSpPr>
        <p:spPr>
          <a:xfrm>
            <a:off x="923925" y="2782192"/>
            <a:ext cx="63257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Feature-Specific Prompts</a:t>
            </a:r>
            <a:endParaRPr/>
          </a:p>
        </p:txBody>
      </p:sp>
      <p:sp>
        <p:nvSpPr>
          <p:cNvPr id="430" name="Google Shape;430;p27"/>
          <p:cNvSpPr txBox="1"/>
          <p:nvPr/>
        </p:nvSpPr>
        <p:spPr>
          <a:xfrm>
            <a:off x="923925" y="3115567"/>
            <a:ext cx="49149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Q&amp;A: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Accurate, clear student response.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Explain: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Step-by-step breakdown.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Quiz: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Exactly 3 questions with 4 options.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Summarize: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Key points and definitions.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Recommendations: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Structured learning path.</a:t>
            </a:r>
            <a:endParaRPr/>
          </a:p>
        </p:txBody>
      </p:sp>
      <p:sp>
        <p:nvSpPr>
          <p:cNvPr id="431" name="Google Shape;431;p27"/>
          <p:cNvSpPr txBox="1"/>
          <p:nvPr/>
        </p:nvSpPr>
        <p:spPr>
          <a:xfrm>
            <a:off x="6448425" y="2910780"/>
            <a:ext cx="5743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Engineering Purpose</a:t>
            </a:r>
            <a:endParaRPr/>
          </a:p>
        </p:txBody>
      </p:sp>
      <p:sp>
        <p:nvSpPr>
          <p:cNvPr id="432" name="Google Shape;432;p27"/>
          <p:cNvSpPr txBox="1"/>
          <p:nvPr/>
        </p:nvSpPr>
        <p:spPr>
          <a:xfrm>
            <a:off x="6448425" y="3244155"/>
            <a:ext cx="4914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• Enforces student-friendly tone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Eliminates unstructured output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Enforces strict option schema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Ensures deterministic responses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/>
          <p:nvPr/>
        </p:nvSpPr>
        <p:spPr>
          <a:xfrm>
            <a:off x="7305823" y="2825055"/>
            <a:ext cx="4200376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8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6387" y="306318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8"/>
          <p:cNvSpPr/>
          <p:nvPr/>
        </p:nvSpPr>
        <p:spPr>
          <a:xfrm>
            <a:off x="685800" y="2682180"/>
            <a:ext cx="6277123" cy="18192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2" name="Google Shape;442;p28"/>
          <p:cNvGraphicFramePr/>
          <p:nvPr/>
        </p:nvGraphicFramePr>
        <p:xfrm>
          <a:off x="685800" y="2682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{8BE0271C-FED0-43BA-A56D-67A6A46E7828}</a:tableStyleId>
              </a:tblPr>
              <a:tblGrid>
                <a:gridCol w="262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 Area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Expected Result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Loading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Loads UI components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Q&amp;A &amp; Explain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Generates clear explanation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Quiz Generation &amp; Scoring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questions with score check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Input &amp; Error Handling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Safe validation messages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3" name="Google Shape;443;p28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QUALITY ASSURANCE</a:t>
            </a:r>
            <a:endParaRPr/>
          </a:p>
        </p:txBody>
      </p:sp>
      <p:sp>
        <p:nvSpPr>
          <p:cNvPr id="444" name="Google Shape;444;p28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Testing &amp; Results</a:t>
            </a:r>
            <a:endParaRPr/>
          </a:p>
        </p:txBody>
      </p:sp>
      <p:sp>
        <p:nvSpPr>
          <p:cNvPr id="445" name="Google Shape;445;p28"/>
          <p:cNvSpPr txBox="1"/>
          <p:nvPr/>
        </p:nvSpPr>
        <p:spPr>
          <a:xfrm>
            <a:off x="685800" y="6162675"/>
            <a:ext cx="220265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  <a:endParaRPr/>
          </a:p>
        </p:txBody>
      </p:sp>
      <p:sp>
        <p:nvSpPr>
          <p:cNvPr id="446" name="Google Shape;446;p28"/>
          <p:cNvSpPr txBox="1"/>
          <p:nvPr/>
        </p:nvSpPr>
        <p:spPr>
          <a:xfrm>
            <a:off x="11020425" y="6162675"/>
            <a:ext cx="771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16</a:t>
            </a:r>
            <a:endParaRPr/>
          </a:p>
        </p:txBody>
      </p:sp>
      <p:sp>
        <p:nvSpPr>
          <p:cNvPr id="447" name="Google Shape;447;p28"/>
          <p:cNvSpPr txBox="1"/>
          <p:nvPr/>
        </p:nvSpPr>
        <p:spPr>
          <a:xfrm>
            <a:off x="6962054" y="3596580"/>
            <a:ext cx="488791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Pass Rate</a:t>
            </a:r>
            <a:endParaRPr/>
          </a:p>
        </p:txBody>
      </p:sp>
      <p:sp>
        <p:nvSpPr>
          <p:cNvPr id="448" name="Google Shape;448;p28"/>
          <p:cNvSpPr txBox="1"/>
          <p:nvPr/>
        </p:nvSpPr>
        <p:spPr>
          <a:xfrm>
            <a:off x="7078433" y="3939480"/>
            <a:ext cx="465515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All test cases verified across responsive viewports.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9"/>
          <p:cNvSpPr/>
          <p:nvPr/>
        </p:nvSpPr>
        <p:spPr>
          <a:xfrm>
            <a:off x="685800" y="2477392"/>
            <a:ext cx="5238750" cy="2228850"/>
          </a:xfrm>
          <a:prstGeom prst="roundRect">
            <a:avLst>
              <a:gd name="adj" fmla="val 5128"/>
            </a:avLst>
          </a:prstGeom>
          <a:solidFill>
            <a:srgbClr val="F0FDF4"/>
          </a:solidFill>
          <a:ln w="9525" cap="flat" cmpd="sng">
            <a:solidFill>
              <a:srgbClr val="DCFC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9"/>
          <p:cNvSpPr/>
          <p:nvPr/>
        </p:nvSpPr>
        <p:spPr>
          <a:xfrm>
            <a:off x="6267450" y="2477392"/>
            <a:ext cx="5238750" cy="222885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9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9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ASSESSMENT &amp; ROADMAP</a:t>
            </a:r>
            <a:endParaRPr/>
          </a:p>
        </p:txBody>
      </p:sp>
      <p:sp>
        <p:nvSpPr>
          <p:cNvPr id="458" name="Google Shape;458;p29"/>
          <p:cNvSpPr txBox="1"/>
          <p:nvPr/>
        </p:nvSpPr>
        <p:spPr>
          <a:xfrm>
            <a:off x="685800" y="771525"/>
            <a:ext cx="115062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Advantages &amp; Future Scope</a:t>
            </a:r>
            <a:endParaRPr/>
          </a:p>
        </p:txBody>
      </p:sp>
      <p:sp>
        <p:nvSpPr>
          <p:cNvPr id="459" name="Google Shape;459;p29"/>
          <p:cNvSpPr txBox="1"/>
          <p:nvPr/>
        </p:nvSpPr>
        <p:spPr>
          <a:xfrm>
            <a:off x="685800" y="6162675"/>
            <a:ext cx="220265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  <a:endParaRPr/>
          </a:p>
        </p:txBody>
      </p:sp>
      <p:sp>
        <p:nvSpPr>
          <p:cNvPr id="460" name="Google Shape;460;p29"/>
          <p:cNvSpPr txBox="1"/>
          <p:nvPr/>
        </p:nvSpPr>
        <p:spPr>
          <a:xfrm>
            <a:off x="11029950" y="61626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17</a:t>
            </a:r>
            <a:endParaRPr/>
          </a:p>
        </p:txBody>
      </p:sp>
      <p:sp>
        <p:nvSpPr>
          <p:cNvPr id="461" name="Google Shape;461;p29"/>
          <p:cNvSpPr txBox="1"/>
          <p:nvPr/>
        </p:nvSpPr>
        <p:spPr>
          <a:xfrm>
            <a:off x="962025" y="2753617"/>
            <a:ext cx="615076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Current Advantages</a:t>
            </a:r>
            <a:endParaRPr/>
          </a:p>
        </p:txBody>
      </p:sp>
      <p:sp>
        <p:nvSpPr>
          <p:cNvPr id="462" name="Google Shape;462;p29"/>
          <p:cNvSpPr txBox="1"/>
          <p:nvPr/>
        </p:nvSpPr>
        <p:spPr>
          <a:xfrm>
            <a:off x="962025" y="3144142"/>
            <a:ext cx="47815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• Centralized AI learning tools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 • Fast doubt resolution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 • Interactive self-assessment quizzes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 • Rapid study material summarization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 • Structured learning path recommendations</a:t>
            </a:r>
            <a:endParaRPr/>
          </a:p>
        </p:txBody>
      </p:sp>
      <p:sp>
        <p:nvSpPr>
          <p:cNvPr id="463" name="Google Shape;463;p29"/>
          <p:cNvSpPr txBox="1"/>
          <p:nvPr/>
        </p:nvSpPr>
        <p:spPr>
          <a:xfrm>
            <a:off x="6543675" y="2753617"/>
            <a:ext cx="56483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Future Scope</a:t>
            </a:r>
            <a:endParaRPr/>
          </a:p>
        </p:txBody>
      </p:sp>
      <p:sp>
        <p:nvSpPr>
          <p:cNvPr id="464" name="Google Shape;464;p29"/>
          <p:cNvSpPr txBox="1"/>
          <p:nvPr/>
        </p:nvSpPr>
        <p:spPr>
          <a:xfrm>
            <a:off x="6543675" y="3144142"/>
            <a:ext cx="47815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Student accounts &amp; progress tracking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PDF study &amp; RAG document querying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Voice-based learning interaction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Multilingual regional support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Adaptive quizzes &amp; teacher dashboard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0"/>
          <p:cNvSpPr/>
          <p:nvPr/>
        </p:nvSpPr>
        <p:spPr>
          <a:xfrm>
            <a:off x="762000" y="5886450"/>
            <a:ext cx="10668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0"/>
          <p:cNvSpPr/>
          <p:nvPr/>
        </p:nvSpPr>
        <p:spPr>
          <a:xfrm>
            <a:off x="5829300" y="37052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0"/>
          <p:cNvSpPr/>
          <p:nvPr/>
        </p:nvSpPr>
        <p:spPr>
          <a:xfrm>
            <a:off x="762000" y="58864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2" name="Google Shape;47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7400" y="6096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53125" y="7239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0"/>
          <p:cNvSpPr txBox="1"/>
          <p:nvPr/>
        </p:nvSpPr>
        <p:spPr>
          <a:xfrm>
            <a:off x="-285750" y="1924050"/>
            <a:ext cx="127635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Practical Generative AI in Education</a:t>
            </a:r>
            <a:endParaRPr/>
          </a:p>
        </p:txBody>
      </p:sp>
      <p:sp>
        <p:nvSpPr>
          <p:cNvPr id="475" name="Google Shape;475;p30"/>
          <p:cNvSpPr txBox="1"/>
          <p:nvPr/>
        </p:nvSpPr>
        <p:spPr>
          <a:xfrm>
            <a:off x="1571625" y="2581275"/>
            <a:ext cx="9048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EduGenie unifies Question Answering, Concept Explanation, Quiz Generation, Summarization, and Learning Recommendations into a responsive, student-centered assistant.</a:t>
            </a:r>
            <a:endParaRPr/>
          </a:p>
        </p:txBody>
      </p:sp>
      <p:sp>
        <p:nvSpPr>
          <p:cNvPr id="476" name="Google Shape;476;p30"/>
          <p:cNvSpPr txBox="1"/>
          <p:nvPr/>
        </p:nvSpPr>
        <p:spPr>
          <a:xfrm>
            <a:off x="-285750" y="4086225"/>
            <a:ext cx="12763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/>
          </a:p>
        </p:txBody>
      </p:sp>
      <p:sp>
        <p:nvSpPr>
          <p:cNvPr id="477" name="Google Shape;477;p30"/>
          <p:cNvSpPr txBox="1"/>
          <p:nvPr/>
        </p:nvSpPr>
        <p:spPr>
          <a:xfrm>
            <a:off x="-285750" y="4829175"/>
            <a:ext cx="12763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Questions &amp; Discussion</a:t>
            </a:r>
            <a:endParaRPr/>
          </a:p>
        </p:txBody>
      </p:sp>
      <p:sp>
        <p:nvSpPr>
          <p:cNvPr id="478" name="Google Shape;478;p30"/>
          <p:cNvSpPr txBox="1"/>
          <p:nvPr/>
        </p:nvSpPr>
        <p:spPr>
          <a:xfrm>
            <a:off x="576262" y="6086475"/>
            <a:ext cx="18573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Presented by Lohith NR</a:t>
            </a:r>
            <a:endParaRPr/>
          </a:p>
        </p:txBody>
      </p:sp>
      <p:sp>
        <p:nvSpPr>
          <p:cNvPr id="479" name="Google Shape;479;p30"/>
          <p:cNvSpPr txBox="1"/>
          <p:nvPr/>
        </p:nvSpPr>
        <p:spPr>
          <a:xfrm>
            <a:off x="8301037" y="6086475"/>
            <a:ext cx="3476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B.Sc. Computer Science – AI &amp; Data Science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1023</Words>
  <Application>Microsoft Office PowerPoint</Application>
  <PresentationFormat>Widescreen</PresentationFormat>
  <Paragraphs>209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Plus Jakarta Sans</vt:lpstr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admin</cp:lastModifiedBy>
  <cp:revision>1</cp:revision>
  <dcterms:modified xsi:type="dcterms:W3CDTF">2026-09-29T08:40:13Z</dcterms:modified>
</cp:coreProperties>
</file>